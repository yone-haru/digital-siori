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con_rou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360000"/>
            <a:ext cx="396000" cy="396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44000" y="331200"/>
            <a:ext cx="2160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400" b="0" spc="190">
                <a:solidFill>
                  <a:srgbClr val="0A0A0A"/>
                </a:solidFill>
                <a:latin typeface="Georgia"/>
                <a:ea typeface="Georgia"/>
              </a:rPr>
              <a:t>Yondle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0000" y="331200"/>
            <a:ext cx="3600000" cy="4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0" spc="270">
                <a:solidFill>
                  <a:srgbClr val="6E6B65"/>
                </a:solidFill>
                <a:latin typeface="Georgia"/>
                <a:ea typeface="Georgia"/>
              </a:rPr>
              <a:t>READING LOG, LIKE A BOOKMARK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972000"/>
            <a:ext cx="612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 spc="270">
                <a:solidFill>
                  <a:srgbClr val="6E6B65"/>
                </a:solidFill>
                <a:latin typeface="Georgia"/>
                <a:ea typeface="Georgia"/>
              </a:rPr>
              <a:t>DIGITAL BOOKSHELF FOR PAPER BOOKS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206000"/>
            <a:ext cx="6300000" cy="11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spc="170">
                <a:solidFill>
                  <a:srgbClr val="0A0A0A"/>
                </a:solidFill>
                <a:latin typeface="Yu Mincho Demibold"/>
                <a:ea typeface="游明朝 Demibold"/>
              </a:rPr>
              <a:t>読書の記録を、</a:t>
            </a:r>
          </a:p>
          <a:p>
            <a:pPr algn="l">
              <a:lnSpc>
                <a:spcPct val="135000"/>
              </a:lnSpc>
            </a:pPr>
            <a:r>
              <a:rPr sz="2900" b="0" spc="170">
                <a:solidFill>
                  <a:srgbClr val="0A0A0A"/>
                </a:solidFill>
                <a:latin typeface="Yu Mincho Demibold"/>
                <a:ea typeface="游明朝 Demibold"/>
              </a:rPr>
              <a:t>しおりのように。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2358000"/>
            <a:ext cx="5940000" cy="50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950" b="0">
                <a:solidFill>
                  <a:srgbClr val="6E6B65"/>
                </a:solidFill>
                <a:latin typeface="Yu Gothic Medium"/>
                <a:ea typeface="游ゴシック Medium"/>
              </a:rPr>
              <a:t>紙の本の「どこまで読んだか忘れた」をなくす、静かな読書記録アプリ。</a:t>
            </a:r>
          </a:p>
          <a:p>
            <a:pPr algn="l">
              <a:lnSpc>
                <a:spcPct val="170000"/>
              </a:lnSpc>
            </a:pPr>
            <a:r>
              <a:rPr sz="950" b="0">
                <a:solidFill>
                  <a:srgbClr val="6E6B65"/>
                </a:solidFill>
                <a:latin typeface="Yu Gothic Medium"/>
                <a:ea typeface="游ゴシック Medium"/>
              </a:rPr>
              <a:t>書籍情報の自動取得から、進捗の記録、読書時間の計測、読了予測まで。あなたの読書を、次のページへ。</a:t>
            </a:r>
          </a:p>
        </p:txBody>
      </p:sp>
      <p:pic>
        <p:nvPicPr>
          <p:cNvPr id="8" name="Picture 7" descr="phone_shel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724" y="2844000"/>
            <a:ext cx="1472184" cy="309981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9724" y="6033816"/>
            <a:ext cx="1832184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spc="190">
                <a:solidFill>
                  <a:srgbClr val="9A968F"/>
                </a:solidFill>
                <a:latin typeface="Georgia"/>
                <a:ea typeface="Georgia"/>
              </a:rPr>
              <a:t>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9724" y="6177816"/>
            <a:ext cx="1832184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E6B65"/>
                </a:solidFill>
                <a:latin typeface="Yu Gothic Medium"/>
                <a:ea typeface="游ゴシック Medium"/>
              </a:rPr>
              <a:t>書影が並ぶ本棚</a:t>
            </a:r>
          </a:p>
        </p:txBody>
      </p:sp>
      <p:pic>
        <p:nvPicPr>
          <p:cNvPr id="11" name="Picture 10" descr="phone_tim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908" y="2844000"/>
            <a:ext cx="1472184" cy="30998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63908" y="6033816"/>
            <a:ext cx="1832184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spc="190">
                <a:solidFill>
                  <a:srgbClr val="9A968F"/>
                </a:solidFill>
                <a:latin typeface="Georgia"/>
                <a:ea typeface="Georgia"/>
              </a:rPr>
              <a:t>NOW READING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63908" y="6177816"/>
            <a:ext cx="1832184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E6B65"/>
                </a:solidFill>
                <a:latin typeface="Yu Gothic Medium"/>
                <a:ea typeface="游ゴシック Medium"/>
              </a:rPr>
              <a:t>没入の読書タイマー</a:t>
            </a:r>
          </a:p>
        </p:txBody>
      </p:sp>
      <p:pic>
        <p:nvPicPr>
          <p:cNvPr id="14" name="Picture 13" descr="phone_sta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8092" y="2844000"/>
            <a:ext cx="1472184" cy="309981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588092" y="6033816"/>
            <a:ext cx="1832184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 spc="190">
                <a:solidFill>
                  <a:srgbClr val="9A968F"/>
                </a:solidFill>
                <a:latin typeface="Georgia"/>
                <a:ea typeface="Georgia"/>
              </a:rPr>
              <a:t>STATS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8092" y="6177816"/>
            <a:ext cx="1832184" cy="14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750" b="0">
                <a:solidFill>
                  <a:srgbClr val="6E6B65"/>
                </a:solidFill>
                <a:latin typeface="Yu Gothic Medium"/>
                <a:ea typeface="游ゴシック Medium"/>
              </a:rPr>
              <a:t>積み重ねが見える読書手帖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0000" y="6588000"/>
            <a:ext cx="3060000" cy="108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0000" y="6667200"/>
            <a:ext cx="306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A0A0A"/>
                </a:solidFill>
                <a:latin typeface="Yu Gothic Medium"/>
                <a:ea typeface="Yu Gothic Medium"/>
              </a:rPr>
              <a:t/>
            </a:r>
            <a:r>
              <a:rPr sz="1300">
                <a:solidFill>
                  <a:srgbClr val="9A968F"/>
                </a:solidFill>
                <a:latin typeface="Georgia"/>
                <a:ea typeface="Georgia"/>
              </a:rPr>
              <a:t>01</a:t>
            </a:r>
            <a:r>
              <a:rPr sz="1050">
                <a:solidFill>
                  <a:srgbClr val="0A0A0A"/>
                </a:solidFill>
                <a:latin typeface="Yu Mincho Demibold"/>
                <a:ea typeface="游明朝 Demibold"/>
              </a:rPr>
              <a:t>  書影が並ぶ、デジタルの本棚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6897600"/>
            <a:ext cx="30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タイトル検索だけで表紙・著者・ページ数を自動取得。手元の本が数秒で本棚に並びます。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60000" y="6588000"/>
            <a:ext cx="3060000" cy="108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60000" y="6667200"/>
            <a:ext cx="306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A0A0A"/>
                </a:solidFill>
                <a:latin typeface="Yu Gothic Medium"/>
                <a:ea typeface="Yu Gothic Medium"/>
              </a:rPr>
              <a:t/>
            </a:r>
            <a:r>
              <a:rPr sz="1300">
                <a:solidFill>
                  <a:srgbClr val="9A968F"/>
                </a:solidFill>
                <a:latin typeface="Georgia"/>
                <a:ea typeface="Georgia"/>
              </a:rPr>
              <a:t>02</a:t>
            </a:r>
            <a:r>
              <a:rPr sz="1050">
                <a:solidFill>
                  <a:srgbClr val="0A0A0A"/>
                </a:solidFill>
                <a:latin typeface="Yu Mincho Demibold"/>
                <a:ea typeface="游明朝 Demibold"/>
              </a:rPr>
              <a:t>  どこまで読んだか、忘れない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0000" y="6897600"/>
            <a:ext cx="30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現在のページを記録すれば、進捗率と残りページを常に表示。読書の現在地を見失いません。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0000" y="7434000"/>
            <a:ext cx="3060000" cy="108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0000" y="7513200"/>
            <a:ext cx="306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A0A0A"/>
                </a:solidFill>
                <a:latin typeface="Yu Gothic Medium"/>
                <a:ea typeface="Yu Gothic Medium"/>
              </a:rPr>
              <a:t/>
            </a:r>
            <a:r>
              <a:rPr sz="1300">
                <a:solidFill>
                  <a:srgbClr val="9A968F"/>
                </a:solidFill>
                <a:latin typeface="Georgia"/>
                <a:ea typeface="Georgia"/>
              </a:rPr>
              <a:t>03</a:t>
            </a:r>
            <a:r>
              <a:rPr sz="1050">
                <a:solidFill>
                  <a:srgbClr val="0A0A0A"/>
                </a:solidFill>
                <a:latin typeface="Yu Mincho Demibold"/>
                <a:ea typeface="游明朝 Demibold"/>
              </a:rPr>
              <a:t>  没入のための、読書タイマー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7743600"/>
            <a:ext cx="30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黒い画面が集中を守り、読んだ時間とページを静かに記録します。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60000" y="7434000"/>
            <a:ext cx="3060000" cy="108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60000" y="7513200"/>
            <a:ext cx="306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A0A0A"/>
                </a:solidFill>
                <a:latin typeface="Yu Gothic Medium"/>
                <a:ea typeface="Yu Gothic Medium"/>
              </a:rPr>
              <a:t/>
            </a:r>
            <a:r>
              <a:rPr sz="1300">
                <a:solidFill>
                  <a:srgbClr val="9A968F"/>
                </a:solidFill>
                <a:latin typeface="Georgia"/>
                <a:ea typeface="Georgia"/>
              </a:rPr>
              <a:t>04</a:t>
            </a:r>
            <a:r>
              <a:rPr sz="1050">
                <a:solidFill>
                  <a:srgbClr val="0A0A0A"/>
                </a:solidFill>
                <a:latin typeface="Yu Mincho Demibold"/>
                <a:ea typeface="游明朝 Demibold"/>
              </a:rPr>
              <a:t>  「あと何分で読み終わるか」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60000" y="7743600"/>
            <a:ext cx="30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あなた自身の読書ペースから、読了までの残り時間を予測します。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0000" y="8280000"/>
            <a:ext cx="3060000" cy="108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8359200"/>
            <a:ext cx="306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A0A0A"/>
                </a:solidFill>
                <a:latin typeface="Yu Gothic Medium"/>
                <a:ea typeface="Yu Gothic Medium"/>
              </a:rPr>
              <a:t/>
            </a:r>
            <a:r>
              <a:rPr sz="1300">
                <a:solidFill>
                  <a:srgbClr val="9A968F"/>
                </a:solidFill>
                <a:latin typeface="Georgia"/>
                <a:ea typeface="Georgia"/>
              </a:rPr>
              <a:t>05</a:t>
            </a:r>
            <a:r>
              <a:rPr sz="1050">
                <a:solidFill>
                  <a:srgbClr val="0A0A0A"/>
                </a:solidFill>
                <a:latin typeface="Yu Mincho Demibold"/>
                <a:ea typeface="游明朝 Demibold"/>
              </a:rPr>
              <a:t>  積み重ねが見える、読書手帖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8589600"/>
            <a:ext cx="30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累計読書時間・読了冊数・読んだページ数・連続読書日数を記録します。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60000" y="8280000"/>
            <a:ext cx="3060000" cy="108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60000" y="8359200"/>
            <a:ext cx="306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0A0A0A"/>
                </a:solidFill>
                <a:latin typeface="Yu Gothic Medium"/>
                <a:ea typeface="Yu Gothic Medium"/>
              </a:rPr>
              <a:t/>
            </a:r>
            <a:r>
              <a:rPr sz="1300">
                <a:solidFill>
                  <a:srgbClr val="9A968F"/>
                </a:solidFill>
                <a:latin typeface="Georgia"/>
                <a:ea typeface="Georgia"/>
              </a:rPr>
              <a:t>06</a:t>
            </a:r>
            <a:r>
              <a:rPr sz="1050">
                <a:solidFill>
                  <a:srgbClr val="0A0A0A"/>
                </a:solidFill>
                <a:latin typeface="Yu Mincho Demibold"/>
                <a:ea typeface="游明朝 Demibold"/>
              </a:rPr>
              <a:t>  メモ・評価・タグで整理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60000" y="8589600"/>
            <a:ext cx="306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心に残った一文のメモ、評価とレビュー、タグ整理。再読の記録にも対応。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0000" y="9270000"/>
            <a:ext cx="6480000" cy="14400"/>
          </a:xfrm>
          <a:prstGeom prst="rect">
            <a:avLst/>
          </a:prstGeom>
          <a:solidFill>
            <a:srgbClr val="E3D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q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000" y="9432000"/>
            <a:ext cx="828000" cy="8280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656000" y="9450000"/>
            <a:ext cx="2520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 spc="90">
                <a:solidFill>
                  <a:srgbClr val="0A0A0A"/>
                </a:solidFill>
                <a:latin typeface="Yu Mincho Demibold"/>
                <a:ea typeface="游明朝 Demibold"/>
              </a:rPr>
              <a:t>無料ではじめる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56000" y="9756000"/>
            <a:ext cx="252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メールアドレスだけで登録できます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56000" y="9972000"/>
            <a:ext cx="2520000" cy="25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spc="60">
                <a:solidFill>
                  <a:srgbClr val="0A0A0A"/>
                </a:solidFill>
                <a:latin typeface="Georgia"/>
                <a:ea typeface="Georgia"/>
              </a:rPr>
              <a:t>digital-siori.vercel.app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0000" y="9450000"/>
            <a:ext cx="28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60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Web でいますぐ使えます</a:t>
            </a:r>
          </a:p>
          <a:p>
            <a:pPr algn="r">
              <a:lnSpc>
                <a:spcPct val="160000"/>
              </a:lnSpc>
            </a:pPr>
            <a:r>
              <a:rPr sz="800" b="0">
                <a:solidFill>
                  <a:srgbClr val="6E6B65"/>
                </a:solidFill>
                <a:latin typeface="Yu Gothic Medium"/>
                <a:ea typeface="游ゴシック Medium"/>
              </a:rPr>
              <a:t>iOS / Android アプリは近日公開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0000" y="10008000"/>
            <a:ext cx="288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spc="120">
                <a:solidFill>
                  <a:srgbClr val="9A968F"/>
                </a:solidFill>
                <a:latin typeface="Georgia"/>
                <a:ea typeface="Georgia"/>
              </a:rPr>
              <a:t>© 2026 Yondle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